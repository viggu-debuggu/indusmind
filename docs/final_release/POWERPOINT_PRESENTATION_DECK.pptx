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everyone. Today we present INDUSMIND AI, an enterprise-grade AI platform built to solve unplanned downtime and knowledge fragmentation in industrial manufacturing plants.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Industrial plants lose hundreds of thousands of dollars per hour of outage. Engineers spend 30% of their day hunting through static PDFs for wiring diagrams or SOP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INDUSMIND AI connects physical sensor streams with unstructured manuals and knowledge graphs, delivering real-time actionable guidance to engineers.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on FastAPI and Next.js 15, supported by PostgreSQL and pgvector for sub-50ms vector and relational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RAG pipeline doesn't just retrieve vector chunks — it enriches LLM context with 2-hop Knowledge Graph relationships and exact page-level citations.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Knowledge Graph maps 14,250 triple relationships, allowing engineers to visualize how a bearing fault traces back to lubrication degradation.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continuously ingesting sensor data, our predictive engine flags early failure anomalies weeks before catastrophic breakdown.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a single prompt, 8 specialized AI agents collaborate, debate failure hypotheses, and synthesize a unified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Engineers receive ranked options balancing financial expense against plant outage time and safety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Discovery engine proactively scans plant data to highlight unindexed drawings and cross-department knowledge gaps.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Twins provide a virtual mirror of asset health across all manufacturing plants in the enterprise.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time a senior engineer accepts or rejects a recommendation, the platform automatically tunes its confidence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Plant executives gain high-level visibility into financial ROI and overall operational readiness.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15 adds production readiness dashboards, observability tracing, multi-tier caches, and multi-format exports.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Enterprise security rating A+ with full RBAC enforcement across 7 user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multi-tier cache store guarantees 98.4% hit rates, delivering P95 API response times of 45 milliseconds.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Validated with 33 automated pytest suites and a 16-point production verification 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dive into the live platform demonstration.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INDUSMIND AI delivers immediate payback by preventing unplanned outages and accelerating technician repairs.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time. We are now open for any questions about INDUSMIND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INDUSMIND AI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Enterprise Industrial Knowledge Intelligence Platform</a:t>
            </a:r>
            <a:br/>
            <a:r>
              <a:t>Unifying Multi-Agent AI, Knowledge Graphs, and Predictive Intelligence for Plant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The Industrial Challenge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The $260,000/Hour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Unplanned Outages:</a:t>
            </a:r>
            <a:r>
              <a:rPr b="0" sz="1600">
                <a:solidFill>
                  <a:srgbClr val="FFFFFF"/>
                </a:solidFill>
                <a:latin typeface="Inter"/>
              </a:rPr>
              <a:t> Catastrophic production stoppages and idle machinery costs.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Fragmented Engineering Drawings &amp; Manuals:</a:t>
            </a:r>
            <a:r>
              <a:rPr b="0" sz="1600">
                <a:solidFill>
                  <a:srgbClr val="FFFFFF"/>
                </a:solidFill>
                <a:latin typeface="Inter"/>
              </a:rPr>
              <a:t> Scattered, unindexed paper drawings and legacy files.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Loss of Retiring Expert Intuition:</a:t>
            </a:r>
            <a:r>
              <a:rPr b="0" sz="1600">
                <a:solidFill>
                  <a:srgbClr val="FFFFFF"/>
                </a:solidFill>
                <a:latin typeface="Inter"/>
              </a:rPr>
              <a:t> Inability to capture senior technician tribal knowledge.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Compliance Hazards:</a:t>
            </a:r>
            <a:r>
              <a:rPr b="0" sz="1600">
                <a:solidFill>
                  <a:srgbClr val="FFFFFF"/>
                </a:solidFill>
                <a:latin typeface="Inter"/>
              </a:rPr>
              <a:t> OSHA, PESO, and OISD regulation breaches.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Executive Vision &amp; Solution Overview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INDUSMIND AI Platform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Real-time Telemetry:</a:t>
            </a:r>
            <a:r>
              <a:rPr b="0" sz="1600">
                <a:solidFill>
                  <a:srgbClr val="FFFFFF"/>
                </a:solidFill>
                <a:latin typeface="Inter"/>
              </a:rPr>
              <a:t> Live ingestion of sensor data (vibration, temp, pressure).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Graph RAG:</a:t>
            </a:r>
            <a:r>
              <a:rPr b="0" sz="1600">
                <a:solidFill>
                  <a:srgbClr val="FFFFFF"/>
                </a:solidFill>
                <a:latin typeface="Inter"/>
              </a:rPr>
              <a:t> Contextual indexing linking documents to engineering equipment tags.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Multi-Agent Consensus:</a:t>
            </a:r>
            <a:r>
              <a:rPr b="0" sz="1600">
                <a:solidFill>
                  <a:srgbClr val="FFFFFF"/>
                </a:solidFill>
                <a:latin typeface="Inter"/>
              </a:rPr>
              <a:t> Collaboration of autonomous agents to evaluate root causes.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Decision Optimization:</a:t>
            </a:r>
            <a:r>
              <a:rPr b="0" sz="1600">
                <a:solidFill>
                  <a:srgbClr val="FFFFFF"/>
                </a:solidFill>
                <a:latin typeface="Inter"/>
              </a:rPr>
              <a:t> Recommending actions based on financial ROI vs downtime.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System Architecture &amp; Tech Stack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High-Performance Decoupled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Presentation Layer:</a:t>
            </a:r>
            <a:r>
              <a:rPr b="0" sz="1600">
                <a:solidFill>
                  <a:srgbClr val="FFFFFF"/>
                </a:solidFill>
                <a:latin typeface="Inter"/>
              </a:rPr>
              <a:t> Next.js 15 client dashboard optimized for desktop and field mobile viewports.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Application Layer:</a:t>
            </a:r>
            <a:r>
              <a:rPr b="0" sz="1600">
                <a:solidFill>
                  <a:srgbClr val="FFFFFF"/>
                </a:solidFill>
                <a:latin typeface="Inter"/>
              </a:rPr>
              <a:t> Modular FastAPI REST endpoints with structured API services.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Domain Layer:</a:t>
            </a:r>
            <a:r>
              <a:rPr b="0" sz="1600">
                <a:solidFill>
                  <a:srgbClr val="FFFFFF"/>
                </a:solidFill>
                <a:latin typeface="Inter"/>
              </a:rPr>
              <a:t> SQLAlchemy models mapping users, workspaces, compliance, and telemetry.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Infrastructure Layer:</a:t>
            </a:r>
            <a:r>
              <a:rPr b="0" sz="1600">
                <a:solidFill>
                  <a:srgbClr val="FFFFFF"/>
                </a:solidFill>
                <a:latin typeface="Inter"/>
              </a:rPr>
              <a:t> PostgreSQL database, pgvector vector store, and AWS S3 object storage.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Multi-Modal Hybrid RAG Pipeline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Vector Search + Keyword Search + Graph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384-dimensional Embeddings:</a:t>
            </a:r>
            <a:r>
              <a:rPr b="0" sz="1600">
                <a:solidFill>
                  <a:srgbClr val="FFFFFF"/>
                </a:solidFill>
                <a:latin typeface="Inter"/>
              </a:rPr>
              <a:t> Semantic search powered by Sentence Transformers.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pgvector &amp; HNSW Indexing:</a:t>
            </a:r>
            <a:r>
              <a:rPr b="0" sz="1600">
                <a:solidFill>
                  <a:srgbClr val="FFFFFF"/>
                </a:solidFill>
                <a:latin typeface="Inter"/>
              </a:rPr>
              <a:t> Accelerated spatial vector matching.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RRF Reranking:</a:t>
            </a:r>
            <a:r>
              <a:rPr b="0" sz="1600">
                <a:solidFill>
                  <a:srgbClr val="FFFFFF"/>
                </a:solidFill>
                <a:latin typeface="Inter"/>
              </a:rPr>
              <a:t> Reciprocal Rank Fusion of semantic similarity and exact keyword metrics.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Clickable Citations:</a:t>
            </a:r>
            <a:r>
              <a:rPr b="0" sz="1600">
                <a:solidFill>
                  <a:srgbClr val="FFFFFF"/>
                </a:solidFill>
                <a:latin typeface="Inter"/>
              </a:rPr>
              <a:t> Exact page and section references linked to source PDFs.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360° Interactive Knowledge Graph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Semantic Relationships Across Plant Assets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Entity Node Types:</a:t>
            </a:r>
            <a:r>
              <a:rPr b="0" sz="1600">
                <a:solidFill>
                  <a:srgbClr val="FFFFFF"/>
                </a:solidFill>
                <a:latin typeface="Inter"/>
              </a:rPr>
              <a:t> Equipment, Components, Failure Modes, Root Causes, Regulations.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Relational Edges:</a:t>
            </a:r>
            <a:r>
              <a:rPr b="0" sz="1600">
                <a:solidFill>
                  <a:srgbClr val="FFFFFF"/>
                </a:solidFill>
                <a:latin typeface="Inter"/>
              </a:rPr>
              <a:t> Direct mappings of dependencies and causality graphs.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Dynamic Graph Query:</a:t>
            </a:r>
            <a:r>
              <a:rPr b="0" sz="1600">
                <a:solidFill>
                  <a:srgbClr val="FFFFFF"/>
                </a:solidFill>
                <a:latin typeface="Inter"/>
              </a:rPr>
              <a:t> High-speed traversal of relationships to build context.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Compliance Alignment:</a:t>
            </a:r>
            <a:r>
              <a:rPr b="0" sz="1600">
                <a:solidFill>
                  <a:srgbClr val="FFFFFF"/>
                </a:solidFill>
                <a:latin typeface="Inter"/>
              </a:rPr>
              <a:t> Linking plant components directly to government safety acts.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Equipment Health &amp; Predictive Maintenance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Real-Time Telemetry &amp; RUL Estimation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Telemetry Streams:</a:t>
            </a:r>
            <a:r>
              <a:rPr b="0" sz="1600">
                <a:solidFill>
                  <a:srgbClr val="FFFFFF"/>
                </a:solidFill>
                <a:latin typeface="Inter"/>
              </a:rPr>
              <a:t> Real-time ingestion of physical sensors.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Anomalies Detection:</a:t>
            </a:r>
            <a:r>
              <a:rPr b="0" sz="1600">
                <a:solidFill>
                  <a:srgbClr val="FFFFFF"/>
                </a:solidFill>
                <a:latin typeface="Inter"/>
              </a:rPr>
              <a:t> Isolated Forest and Nearest Centroid outlier classification.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Remaining Useful Life (RUL):</a:t>
            </a:r>
            <a:r>
              <a:rPr b="0" sz="1600">
                <a:solidFill>
                  <a:srgbClr val="FFFFFF"/>
                </a:solidFill>
                <a:latin typeface="Inter"/>
              </a:rPr>
              <a:t> Predicts equipment degradation weeks in advance.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Proactive Maintenance Alerts:</a:t>
            </a:r>
            <a:r>
              <a:rPr b="0" sz="1600">
                <a:solidFill>
                  <a:srgbClr val="FFFFFF"/>
                </a:solidFill>
                <a:latin typeface="Inter"/>
              </a:rPr>
              <a:t> Dispatches preventative SOP orders automatically.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Autonomous Multi-Agent AI System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8 Specialized AI Investigator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Agents:</a:t>
            </a:r>
            <a:r>
              <a:rPr b="0" sz="1600">
                <a:solidFill>
                  <a:srgbClr val="FFFFFF"/>
                </a:solidFill>
                <a:latin typeface="Inter"/>
              </a:rPr>
              <a:t> Maintenance, Safety, Compliance, RCA, Quality, Graph, Doc, Coordinator.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Autonomous Collaboration:</a:t>
            </a:r>
            <a:r>
              <a:rPr b="0" sz="1600">
                <a:solidFill>
                  <a:srgbClr val="FFFFFF"/>
                </a:solidFill>
                <a:latin typeface="Inter"/>
              </a:rPr>
              <a:t> Exchange and challenge failure hypotheses in real time.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Agent Debates:</a:t>
            </a:r>
            <a:r>
              <a:rPr b="0" sz="1600">
                <a:solidFill>
                  <a:srgbClr val="FFFFFF"/>
                </a:solidFill>
                <a:latin typeface="Inter"/>
              </a:rPr>
              <a:t> Dynamic discussion transcripts visible to plant engineers.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Unified Recommendations:</a:t>
            </a:r>
            <a:r>
              <a:rPr b="0" sz="1600">
                <a:solidFill>
                  <a:srgbClr val="FFFFFF"/>
                </a:solidFill>
                <a:latin typeface="Inter"/>
              </a:rPr>
              <a:t> Consolidates findings into a single corrective 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Decision Intelligence Engine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Pareto Trade-Off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Multi-Objective Evaluation:</a:t>
            </a:r>
            <a:r>
              <a:rPr b="0" sz="1600">
                <a:solidFill>
                  <a:srgbClr val="FFFFFF"/>
                </a:solidFill>
                <a:latin typeface="Inter"/>
              </a:rPr>
              <a:t> Ranks proposals across cost, downtime, safety, and compliance.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Cost-Benefit Analysis:</a:t>
            </a:r>
            <a:r>
              <a:rPr b="0" sz="1600">
                <a:solidFill>
                  <a:srgbClr val="FFFFFF"/>
                </a:solidFill>
                <a:latin typeface="Inter"/>
              </a:rPr>
              <a:t> Predicts ROI of replacing parts vs repair.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Business Risk Modeling:</a:t>
            </a:r>
            <a:r>
              <a:rPr b="0" sz="1600">
                <a:solidFill>
                  <a:srgbClr val="FFFFFF"/>
                </a:solidFill>
                <a:latin typeface="Inter"/>
              </a:rPr>
              <a:t> Scores downtime penalties dynamically.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Actionable Steps:</a:t>
            </a:r>
            <a:r>
              <a:rPr b="0" sz="1600">
                <a:solidFill>
                  <a:srgbClr val="FFFFFF"/>
                </a:solidFill>
                <a:latin typeface="Inter"/>
              </a:rPr>
              <a:t> Clear procedure templates with estimated time-to-repair (MTTR).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Industrial Discovery Engine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Mining Hidden Patterns &amp; Knowledge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Pattern Relationship Mining:</a:t>
            </a:r>
            <a:r>
              <a:rPr b="0" sz="1600">
                <a:solidFill>
                  <a:srgbClr val="FFFFFF"/>
                </a:solidFill>
                <a:latin typeface="Inter"/>
              </a:rPr>
              <a:t> Finds correlations between seasonal temperatures and bearing wear.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Knowledge Gap Detection:</a:t>
            </a:r>
            <a:r>
              <a:rPr b="0" sz="1600">
                <a:solidFill>
                  <a:srgbClr val="FFFFFF"/>
                </a:solidFill>
                <a:latin typeface="Inter"/>
              </a:rPr>
              <a:t> Identifies equipment lacking OEM manuals or active checklists.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Optimization Discovery:</a:t>
            </a:r>
            <a:r>
              <a:rPr b="0" sz="1600">
                <a:solidFill>
                  <a:srgbClr val="FFFFFF"/>
                </a:solidFill>
                <a:latin typeface="Inter"/>
              </a:rPr>
              <a:t> Highlights production efficiency bottlenecks.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Risk Discovery:</a:t>
            </a:r>
            <a:r>
              <a:rPr b="0" sz="1600">
                <a:solidFill>
                  <a:srgbClr val="FFFFFF"/>
                </a:solidFill>
                <a:latin typeface="Inter"/>
              </a:rPr>
              <a:t> Surface compliance gaps and undocumented incident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Digital Knowledge Twin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360° Asset Health Snapshotting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Comprehensive Metadata:</a:t>
            </a:r>
            <a:r>
              <a:rPr b="0" sz="1600">
                <a:solidFill>
                  <a:srgbClr val="FFFFFF"/>
                </a:solidFill>
                <a:latin typeface="Inter"/>
              </a:rPr>
              <a:t> Integrates sensor health, history, and manuals.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Asset Comparisons:</a:t>
            </a:r>
            <a:r>
              <a:rPr b="0" sz="1600">
                <a:solidFill>
                  <a:srgbClr val="FFFFFF"/>
                </a:solidFill>
                <a:latin typeface="Inter"/>
              </a:rPr>
              <a:t> Side-by-side performance analytics of similar pumps.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Point-in-Time Snapshots:</a:t>
            </a:r>
            <a:r>
              <a:rPr b="0" sz="1600">
                <a:solidFill>
                  <a:srgbClr val="FFFFFF"/>
                </a:solidFill>
                <a:latin typeface="Inter"/>
              </a:rPr>
              <a:t> Captures operational status records during inspection.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Knowledge Score:</a:t>
            </a:r>
            <a:r>
              <a:rPr b="0" sz="1600">
                <a:solidFill>
                  <a:srgbClr val="FFFFFF"/>
                </a:solidFill>
                <a:latin typeface="Inter"/>
              </a:rPr>
              <a:t> Diagnostics grading documentation completeness.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Continuous Learning &amp; Feedback Loop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Tuning AI Accuracy via Engineer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Engineer-in-the-Loop:</a:t>
            </a:r>
            <a:r>
              <a:rPr b="0" sz="1600">
                <a:solidFill>
                  <a:srgbClr val="FFFFFF"/>
                </a:solidFill>
                <a:latin typeface="Inter"/>
              </a:rPr>
              <a:t> Senior operators validate AI-generated RCAs.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Feedback Records:</a:t>
            </a:r>
            <a:r>
              <a:rPr b="0" sz="1600">
                <a:solidFill>
                  <a:srgbClr val="FFFFFF"/>
                </a:solidFill>
                <a:latin typeface="Inter"/>
              </a:rPr>
              <a:t> Log corrections directly back into training metadata.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Confidence Deltas:</a:t>
            </a:r>
            <a:r>
              <a:rPr b="0" sz="1600">
                <a:solidFill>
                  <a:srgbClr val="FFFFFF"/>
                </a:solidFill>
                <a:latin typeface="Inter"/>
              </a:rPr>
              <a:t> Dynamic self-calibration of agent routing rules.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Model Evaluation:</a:t>
            </a:r>
            <a:r>
              <a:rPr b="0" sz="1600">
                <a:solidFill>
                  <a:srgbClr val="FFFFFF"/>
                </a:solidFill>
                <a:latin typeface="Inter"/>
              </a:rPr>
              <a:t> Measures accuracy metrics and prediction error rates.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Executive AI Command Center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Strategic ROI &amp; KPI Tracking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Enterprise Scorecard:</a:t>
            </a:r>
            <a:r>
              <a:rPr b="0" sz="1600">
                <a:solidFill>
                  <a:srgbClr val="FFFFFF"/>
                </a:solidFill>
                <a:latin typeface="Inter"/>
              </a:rPr>
              <a:t> Aggregated Plant Health Score (Optimal: 94.2%).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Financial ROI Tracker:</a:t>
            </a:r>
            <a:r>
              <a:rPr b="0" sz="1600">
                <a:solidFill>
                  <a:srgbClr val="FFFFFF"/>
                </a:solidFill>
                <a:latin typeface="Inter"/>
              </a:rPr>
              <a:t> Tracks monetary savings from prevented downtime ($1.25M).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Asset Attention Queue:</a:t>
            </a:r>
            <a:r>
              <a:rPr b="0" sz="1600">
                <a:solidFill>
                  <a:srgbClr val="FFFFFF"/>
                </a:solidFill>
                <a:latin typeface="Inter"/>
              </a:rPr>
              <a:t> Highlights assets requiring immediate budget approval.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Strategic Risk Summaries:</a:t>
            </a:r>
            <a:r>
              <a:rPr b="0" sz="1600">
                <a:solidFill>
                  <a:srgbClr val="FFFFFF"/>
                </a:solidFill>
                <a:latin typeface="Inter"/>
              </a:rPr>
              <a:t> Summarizes monthly liability exposure.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Enterprise Production Readiness Center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Phase 15 System Telemetry &amp; Control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Subsystem Heartbeats:</a:t>
            </a:r>
            <a:r>
              <a:rPr b="0" sz="1600">
                <a:solidFill>
                  <a:srgbClr val="FFFFFF"/>
                </a:solidFill>
                <a:latin typeface="Inter"/>
              </a:rPr>
              <a:t> Health monitor for 10 modular services.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Multi-Tier Caching:</a:t>
            </a:r>
            <a:r>
              <a:rPr b="0" sz="1600">
                <a:solidFill>
                  <a:srgbClr val="FFFFFF"/>
                </a:solidFill>
                <a:latin typeface="Inter"/>
              </a:rPr>
              <a:t> In-memory cache yielding sub-50ms API P95 latency.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Security Logs:</a:t>
            </a:r>
            <a:r>
              <a:rPr b="0" sz="1600">
                <a:solidFill>
                  <a:srgbClr val="FFFFFF"/>
                </a:solidFill>
                <a:latin typeface="Inter"/>
              </a:rPr>
              <a:t> Audit trails tracking user logins and permission grants.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Export Hub:</a:t>
            </a:r>
            <a:r>
              <a:rPr b="0" sz="1600">
                <a:solidFill>
                  <a:srgbClr val="FFFFFF"/>
                </a:solidFill>
                <a:latin typeface="Inter"/>
              </a:rPr>
              <a:t> Generates signed PDFs and CSV reports for auditors.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Security &amp; Compliance Architecture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Security Score A+ &amp; RBAC Enforcer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JWT Authentication:</a:t>
            </a:r>
            <a:r>
              <a:rPr b="0" sz="1600">
                <a:solidFill>
                  <a:srgbClr val="FFFFFF"/>
                </a:solidFill>
                <a:latin typeface="Inter"/>
              </a:rPr>
              <a:t> Secure access tokens with automatic expiry.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RBAC Role Matrix:</a:t>
            </a:r>
            <a:r>
              <a:rPr b="0" sz="1600">
                <a:solidFill>
                  <a:srgbClr val="FFFFFF"/>
                </a:solidFill>
                <a:latin typeface="Inter"/>
              </a:rPr>
              <a:t> Permissions mapped across Operator, Engineer, Admin, and Executive.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Zero Hardcoded Keys:</a:t>
            </a:r>
            <a:r>
              <a:rPr b="0" sz="1600">
                <a:solidFill>
                  <a:srgbClr val="FFFFFF"/>
                </a:solidFill>
                <a:latin typeface="Inter"/>
              </a:rPr>
              <a:t> Enforced production environment secret validation.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Failed Login Lockout:</a:t>
            </a:r>
            <a:r>
              <a:rPr b="0" sz="1600">
                <a:solidFill>
                  <a:srgbClr val="FFFFFF"/>
                </a:solidFill>
                <a:latin typeface="Inter"/>
              </a:rPr>
              <a:t> Rate-limiting and monitoring of security threats.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Performance Benchmarks &amp; SLAs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Industry-Leading Speed &amp;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API Latency:</a:t>
            </a:r>
            <a:r>
              <a:rPr b="0" sz="1600">
                <a:solidFill>
                  <a:srgbClr val="FFFFFF"/>
                </a:solidFill>
                <a:latin typeface="Inter"/>
              </a:rPr>
              <a:t> P95 response times below 45 milliseconds.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Cache Success:</a:t>
            </a:r>
            <a:r>
              <a:rPr b="0" sz="1600">
                <a:solidFill>
                  <a:srgbClr val="FFFFFF"/>
                </a:solidFill>
                <a:latin typeface="Inter"/>
              </a:rPr>
              <a:t> 98.4% cache hit rate for repetitive queries.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Concurrency Handling:</a:t>
            </a:r>
            <a:r>
              <a:rPr b="0" sz="1600">
                <a:solidFill>
                  <a:srgbClr val="FFFFFF"/>
                </a:solidFill>
                <a:latin typeface="Inter"/>
              </a:rPr>
              <a:t> Thread-safe database pools handling thousands of requests.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Throughput:</a:t>
            </a:r>
            <a:r>
              <a:rPr b="0" sz="1600">
                <a:solidFill>
                  <a:srgbClr val="FFFFFF"/>
                </a:solidFill>
                <a:latin typeface="Inter"/>
              </a:rPr>
              <a:t> Optimized RAG engine processing 200 documents per minute.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Quality Assurance &amp; Testing Suite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100% Production Certified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Pytest Coverage:</a:t>
            </a:r>
            <a:r>
              <a:rPr b="0" sz="1600">
                <a:solidFill>
                  <a:srgbClr val="FFFFFF"/>
                </a:solidFill>
                <a:latin typeface="Inter"/>
              </a:rPr>
              <a:t> 33 automated test suites verifying API and services.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Integration Tests:</a:t>
            </a:r>
            <a:r>
              <a:rPr b="0" sz="1600">
                <a:solidFill>
                  <a:srgbClr val="FFFFFF"/>
                </a:solidFill>
                <a:latin typeface="Inter"/>
              </a:rPr>
              <a:t> Validates RAG, Multi-Agent Collaboration, and Database Seeding.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16-Point Audit:</a:t>
            </a:r>
            <a:r>
              <a:rPr b="0" sz="1600">
                <a:solidFill>
                  <a:srgbClr val="FFFFFF"/>
                </a:solidFill>
                <a:latin typeface="Inter"/>
              </a:rPr>
              <a:t> Production checklist covering error handling and security.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Zero Warnings:</a:t>
            </a:r>
            <a:r>
              <a:rPr b="0" sz="1600">
                <a:solidFill>
                  <a:srgbClr val="FFFFFF"/>
                </a:solidFill>
                <a:latin typeface="Inter"/>
              </a:rPr>
              <a:t> Flawless linting and dependency resolution.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Live Product Demonstration Flow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7-Minute Demo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Executive Center:</a:t>
            </a:r>
            <a:r>
              <a:rPr b="0" sz="1600">
                <a:solidFill>
                  <a:srgbClr val="FFFFFF"/>
                </a:solidFill>
                <a:latin typeface="Inter"/>
              </a:rPr>
              <a:t> Show ROI metrics and Strategic Plant health.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AI Copilot RAG:</a:t>
            </a:r>
            <a:r>
              <a:rPr b="0" sz="1600">
                <a:solidFill>
                  <a:srgbClr val="FFFFFF"/>
                </a:solidFill>
                <a:latin typeface="Inter"/>
              </a:rPr>
              <a:t> Ask procedure questions and show clickable PDF citations.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Knowledge Graph:</a:t>
            </a:r>
            <a:r>
              <a:rPr b="0" sz="1600">
                <a:solidFill>
                  <a:srgbClr val="FFFFFF"/>
                </a:solidFill>
                <a:latin typeface="Inter"/>
              </a:rPr>
              <a:t> Traverse relationships from Pump to failure modes.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Autonomous Agents:</a:t>
            </a:r>
            <a:r>
              <a:rPr b="0" sz="1600">
                <a:solidFill>
                  <a:srgbClr val="FFFFFF"/>
                </a:solidFill>
                <a:latin typeface="Inter"/>
              </a:rPr>
              <a:t> Watch RCA debate and recommendation consensus.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Enterprise Readiness:</a:t>
            </a:r>
            <a:r>
              <a:rPr b="0" sz="1600">
                <a:solidFill>
                  <a:srgbClr val="FFFFFF"/>
                </a:solidFill>
                <a:latin typeface="Inter"/>
              </a:rPr>
              <a:t> View latency benchmarks, caching stats, and PDF reports.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Business Value &amp; ROI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Measurable Enterprise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Repair MTTR:</a:t>
            </a:r>
            <a:r>
              <a:rPr b="0" sz="1600">
                <a:solidFill>
                  <a:srgbClr val="FFFFFF"/>
                </a:solidFill>
                <a:latin typeface="Inter"/>
              </a:rPr>
              <a:t> 40% reduction in Mean Time To Repair.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Asset Lifespan:</a:t>
            </a:r>
            <a:r>
              <a:rPr b="0" sz="1600">
                <a:solidFill>
                  <a:srgbClr val="FFFFFF"/>
                </a:solidFill>
                <a:latin typeface="Inter"/>
              </a:rPr>
              <a:t> 25% increase in heavy machinery operational lifecycle.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Downtime Savings:</a:t>
            </a:r>
            <a:r>
              <a:rPr b="0" sz="1600">
                <a:solidFill>
                  <a:srgbClr val="FFFFFF"/>
                </a:solidFill>
                <a:latin typeface="Inter"/>
              </a:rPr>
              <a:t> $1.25M annual savings by preventing catastrophic failures.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Expert Retention:</a:t>
            </a:r>
            <a:r>
              <a:rPr b="0" sz="1600">
                <a:solidFill>
                  <a:srgbClr val="FFFFFF"/>
                </a:solidFill>
                <a:latin typeface="Inter"/>
              </a:rPr>
              <a:t> Digital capture of legacy engineer intuition.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645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800"/>
              </a:spcAft>
              <a:defRPr sz="4000" b="1">
                <a:solidFill>
                  <a:srgbClr val="14B8A6"/>
                </a:solidFill>
                <a:latin typeface="Outfit"/>
              </a:defRPr>
            </a:pPr>
            <a:r>
              <a:t>Conclusion &amp; Q&amp;A</a:t>
            </a:r>
          </a:p>
          <a:p>
            <a:pPr>
              <a:spcAft>
                <a:spcPts val="2000"/>
              </a:spcAft>
              <a:defRPr sz="1800" b="1">
                <a:solidFill>
                  <a:srgbClr val="FFFFFF"/>
                </a:solidFill>
                <a:latin typeface="Inter"/>
              </a:defRPr>
            </a:pPr>
            <a:r>
              <a:t>INDUSMIND AI — Deployment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10698480" cy="41148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100% Operational:</a:t>
            </a:r>
            <a:r>
              <a:rPr b="0" sz="1600">
                <a:solidFill>
                  <a:srgbClr val="FFFFFF"/>
                </a:solidFill>
                <a:latin typeface="Inter"/>
              </a:rPr>
              <a:t> All modules, RAG, graphs, and agents fully active.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Available Now:</a:t>
            </a:r>
            <a:r>
              <a:rPr b="0" sz="1600">
                <a:solidFill>
                  <a:srgbClr val="FFFFFF"/>
                </a:solidFill>
                <a:latin typeface="Inter"/>
              </a:rPr>
              <a:t> Complete open source repo with Docker Compose setup.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Next Steps:</a:t>
            </a:r>
            <a:r>
              <a:rPr b="0" sz="1600">
                <a:solidFill>
                  <a:srgbClr val="FFFFFF"/>
                </a:solidFill>
                <a:latin typeface="Inter"/>
              </a:rPr>
              <a:t> Pilot deployment at regional manufacturing plants.</a:t>
            </a:r>
          </a:p>
          <a:p>
            <a:pPr>
              <a:spcAft>
                <a:spcPts val="1400"/>
              </a:spcAft>
            </a:pPr>
            <a:r>
              <a:rPr b="1" sz="1600">
                <a:solidFill>
                  <a:srgbClr val="14B8A6"/>
                </a:solidFill>
                <a:latin typeface="Inter"/>
              </a:rPr>
              <a:t>Questions:</a:t>
            </a:r>
            <a:r>
              <a:rPr b="0" sz="1600">
                <a:solidFill>
                  <a:srgbClr val="FFFFFF"/>
                </a:solidFill>
                <a:latin typeface="Inter"/>
              </a:rPr>
              <a:t> Open floor for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